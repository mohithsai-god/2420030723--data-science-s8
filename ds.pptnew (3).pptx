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904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A75C22F5-3598-4238-8804-0495FFF72458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192272"/>
              </p:ext>
            </p:extLst>
          </p:nvPr>
        </p:nvGraphicFramePr>
        <p:xfrm>
          <a:off x="8193271" y="4898509"/>
          <a:ext cx="3702050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just" defTabSz="914400" rtl="0" eaLnBrk="1" latinLnBrk="0" hangingPunct="1"/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K.Akshitha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– 2420030146</a:t>
                      </a:r>
                    </a:p>
                    <a:p>
                      <a:pPr marL="0" algn="just" defTabSz="914400" rtl="0" eaLnBrk="1" latinLnBrk="0" hangingPunct="1"/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K.Sree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Vardhan - 2420030711</a:t>
                      </a:r>
                    </a:p>
                    <a:p>
                      <a:pPr marL="0" algn="just" defTabSz="914400" rtl="0" eaLnBrk="1" latinLnBrk="0" hangingPunct="1"/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T.Mohith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Sai      - 2420030723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078499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Dr.N.Sunanda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87804" y="74283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Movie Recommendation System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48938" y="2327226"/>
            <a:ext cx="9393382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69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sz="4000" b="1" dirty="0">
                <a:solidFill>
                  <a:srgbClr val="69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 </a:t>
            </a:r>
            <a:r>
              <a:rPr sz="4000" b="1">
                <a:solidFill>
                  <a:srgbClr val="69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4000" b="1">
                <a:solidFill>
                  <a:srgbClr val="69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4000" b="1" dirty="0">
              <a:solidFill>
                <a:srgbClr val="696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326880" y="6080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D"/>
                </a:solidFill>
                <a:latin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3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D4CAA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98348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41"/>
                </a:solidFill>
                <a:latin typeface="Aptos"/>
              </a:rPr>
              <a:t>Users face information overload when choosing movies. Traditional platforms often rely on popularity, genre or simple similarity, which may not reflect an individual user's evolving taste or current mood.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43000"/>
            <a:ext cx="3840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D4CAA"/>
                </a:solidFill>
                <a:latin typeface="Aptos"/>
              </a:rPr>
              <a:t>Our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72768"/>
            <a:ext cx="489204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Build a personalized movie discovery platform.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Combine movie content, user preferences and interaction history.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Provide recommendations with a clear explanation of why a title matches.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Require authentication so user preferences and watchlists can be personalized.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3337560" cy="132588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64008" cy="1325880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941832" y="399592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User Pain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61688"/>
            <a:ext cx="3063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Too many choices and repetitive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86200"/>
            <a:ext cx="3337560" cy="132588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4343400" y="3886200"/>
            <a:ext cx="64008" cy="132588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4507992" y="399592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Technical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4361688"/>
            <a:ext cx="3063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Ranking movies using multiple preference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886200"/>
            <a:ext cx="3063240" cy="132588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Rectangle 18"/>
          <p:cNvSpPr/>
          <p:nvPr/>
        </p:nvSpPr>
        <p:spPr>
          <a:xfrm>
            <a:off x="7909560" y="3886200"/>
            <a:ext cx="64008" cy="1325880"/>
          </a:xfrm>
          <a:prstGeom prst="rect">
            <a:avLst/>
          </a:prstGeom>
          <a:solidFill>
            <a:srgbClr val="47A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074152" y="3995928"/>
            <a:ext cx="2788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4361688"/>
            <a:ext cx="2788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Faster, more relevant and explainable discovery.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ectangle 6"/>
          <p:cNvSpPr/>
          <p:nvPr/>
        </p:nvSpPr>
        <p:spPr>
          <a:xfrm>
            <a:off x="822960" y="1143000"/>
            <a:ext cx="64008" cy="123444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987552" y="125272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Personalization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61848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Recommend movies based on user taste, ratings and watch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64008" cy="1234440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473952" y="125272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Hybrid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1848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Combine content similarity, popularity and user interaction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6974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822960" y="2697480"/>
            <a:ext cx="64008" cy="1234440"/>
          </a:xfrm>
          <a:prstGeom prst="rect">
            <a:avLst/>
          </a:prstGeom>
          <a:solidFill>
            <a:srgbClr val="47A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987552" y="280720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Mood-Based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17296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Allow users to discover titles suited to moods such as happy, emotional or thrilling.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6974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Rectangle 18"/>
          <p:cNvSpPr/>
          <p:nvPr/>
        </p:nvSpPr>
        <p:spPr>
          <a:xfrm>
            <a:off x="6309360" y="2697480"/>
            <a:ext cx="64008" cy="123444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6473952" y="280720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Explainable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7296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Show understandable reasons behind each recommendation.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Rectangle 22"/>
          <p:cNvSpPr/>
          <p:nvPr/>
        </p:nvSpPr>
        <p:spPr>
          <a:xfrm>
            <a:off x="822960" y="4251960"/>
            <a:ext cx="64008" cy="1234440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987552" y="436168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Secure Full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72744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Implement authentication, hashed passwords, sessions and persistent user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519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Rectangle 26"/>
          <p:cNvSpPr/>
          <p:nvPr/>
        </p:nvSpPr>
        <p:spPr>
          <a:xfrm>
            <a:off x="6309360" y="4251960"/>
            <a:ext cx="64008" cy="1234440"/>
          </a:xfrm>
          <a:prstGeom prst="rect">
            <a:avLst/>
          </a:prstGeom>
          <a:solidFill>
            <a:srgbClr val="47A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6473952" y="436168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Usable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72744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Deliver a responsive cinematic UI with search, watchlist and trailer access.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34440"/>
            <a:ext cx="1828800" cy="502920"/>
          </a:xfrm>
          <a:prstGeom prst="rect">
            <a:avLst/>
          </a:prstGeom>
          <a:solidFill>
            <a:srgbClr val="161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2423160" y="1234440"/>
            <a:ext cx="2971800" cy="502920"/>
          </a:xfrm>
          <a:prstGeom prst="rect">
            <a:avLst/>
          </a:prstGeom>
          <a:solidFill>
            <a:srgbClr val="161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ectangle 15"/>
          <p:cNvSpPr/>
          <p:nvPr/>
        </p:nvSpPr>
        <p:spPr>
          <a:xfrm>
            <a:off x="5394960" y="1234440"/>
            <a:ext cx="3063240" cy="502920"/>
          </a:xfrm>
          <a:prstGeom prst="rect">
            <a:avLst/>
          </a:prstGeom>
          <a:solidFill>
            <a:srgbClr val="161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8458200" y="1234440"/>
            <a:ext cx="2880360" cy="502920"/>
          </a:xfrm>
          <a:prstGeom prst="rect">
            <a:avLst/>
          </a:prstGeom>
          <a:solidFill>
            <a:srgbClr val="161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594360" y="1737360"/>
            <a:ext cx="182880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ectangle 21"/>
          <p:cNvSpPr/>
          <p:nvPr/>
        </p:nvSpPr>
        <p:spPr>
          <a:xfrm>
            <a:off x="2423160" y="1737360"/>
            <a:ext cx="297180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5394960" y="1737360"/>
            <a:ext cx="306324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8458200" y="1737360"/>
            <a:ext cx="288036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594360" y="2816352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Rectangle 29"/>
          <p:cNvSpPr/>
          <p:nvPr/>
        </p:nvSpPr>
        <p:spPr>
          <a:xfrm>
            <a:off x="2423160" y="2816352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Rectangle 31"/>
          <p:cNvSpPr/>
          <p:nvPr/>
        </p:nvSpPr>
        <p:spPr>
          <a:xfrm>
            <a:off x="5394960" y="2816352"/>
            <a:ext cx="30632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Rectangle 33"/>
          <p:cNvSpPr/>
          <p:nvPr/>
        </p:nvSpPr>
        <p:spPr>
          <a:xfrm>
            <a:off x="8458200" y="2816352"/>
            <a:ext cx="2880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Rectangle 35"/>
          <p:cNvSpPr/>
          <p:nvPr/>
        </p:nvSpPr>
        <p:spPr>
          <a:xfrm>
            <a:off x="594360" y="3895344"/>
            <a:ext cx="182880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2423160" y="3895344"/>
            <a:ext cx="297180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Rectangle 39"/>
          <p:cNvSpPr/>
          <p:nvPr/>
        </p:nvSpPr>
        <p:spPr>
          <a:xfrm>
            <a:off x="5394960" y="3895344"/>
            <a:ext cx="306324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Rectangle 41"/>
          <p:cNvSpPr/>
          <p:nvPr/>
        </p:nvSpPr>
        <p:spPr>
          <a:xfrm>
            <a:off x="8458200" y="3895344"/>
            <a:ext cx="288036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4" name="Rectangle 43"/>
          <p:cNvSpPr/>
          <p:nvPr/>
        </p:nvSpPr>
        <p:spPr>
          <a:xfrm>
            <a:off x="594360" y="4974336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Rectangle 45"/>
          <p:cNvSpPr/>
          <p:nvPr/>
        </p:nvSpPr>
        <p:spPr>
          <a:xfrm>
            <a:off x="2423160" y="4974336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Rectangle 47"/>
          <p:cNvSpPr/>
          <p:nvPr/>
        </p:nvSpPr>
        <p:spPr>
          <a:xfrm>
            <a:off x="5394960" y="4974336"/>
            <a:ext cx="30632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0" name="Rectangle 49"/>
          <p:cNvSpPr/>
          <p:nvPr/>
        </p:nvSpPr>
        <p:spPr>
          <a:xfrm>
            <a:off x="8458200" y="4974336"/>
            <a:ext cx="2880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1" name="TextBox 50"/>
          <p:cNvSpPr txBox="1"/>
          <p:nvPr/>
        </p:nvSpPr>
        <p:spPr>
          <a:xfrm>
            <a:off x="640080" y="256032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93C"/>
                </a:solidFill>
                <a:latin typeface="Aptos"/>
              </a:rPr>
              <a:t>Literature Survey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731520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6378"/>
                </a:solidFill>
                <a:latin typeface="Aptos"/>
              </a:rPr>
              <a:t>Selected research directions supporting CineMatch AI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1143000"/>
            <a:ext cx="132588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4" name="TextBox 53"/>
          <p:cNvSpPr txBox="1"/>
          <p:nvPr/>
        </p:nvSpPr>
        <p:spPr>
          <a:xfrm>
            <a:off x="539496" y="1243584"/>
            <a:ext cx="1252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Authors / Year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28800" y="1143000"/>
            <a:ext cx="233172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6" name="TextBox 55"/>
          <p:cNvSpPr txBox="1"/>
          <p:nvPr/>
        </p:nvSpPr>
        <p:spPr>
          <a:xfrm>
            <a:off x="1865376" y="1243584"/>
            <a:ext cx="2258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Paper / Focus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60520" y="1143000"/>
            <a:ext cx="233172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4197096" y="1243584"/>
            <a:ext cx="2258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1143000"/>
            <a:ext cx="242316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0" name="TextBox 59"/>
          <p:cNvSpPr txBox="1"/>
          <p:nvPr/>
        </p:nvSpPr>
        <p:spPr>
          <a:xfrm>
            <a:off x="6528816" y="1243584"/>
            <a:ext cx="2350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Key Inference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15400" y="1143000"/>
            <a:ext cx="242316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2" name="TextBox 61"/>
          <p:cNvSpPr txBox="1"/>
          <p:nvPr/>
        </p:nvSpPr>
        <p:spPr>
          <a:xfrm>
            <a:off x="8951976" y="1243584"/>
            <a:ext cx="2350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Limitation / Future 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1618488"/>
            <a:ext cx="132588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4" name="TextBox 63"/>
          <p:cNvSpPr txBox="1"/>
          <p:nvPr/>
        </p:nvSpPr>
        <p:spPr>
          <a:xfrm>
            <a:off x="557784" y="1691640"/>
            <a:ext cx="1216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3648"/>
                </a:solidFill>
                <a:latin typeface="Aptos"/>
              </a:rPr>
              <a:t>Adomavicius &amp; Tuzhilin
(2005)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0" y="1618488"/>
            <a:ext cx="233172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6" name="TextBox 65"/>
          <p:cNvSpPr txBox="1"/>
          <p:nvPr/>
        </p:nvSpPr>
        <p:spPr>
          <a:xfrm>
            <a:off x="1883664" y="1691640"/>
            <a:ext cx="22219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Toward the Next Generation of Recommender Systems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60520" y="1618488"/>
            <a:ext cx="233172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8" name="TextBox 67"/>
          <p:cNvSpPr txBox="1"/>
          <p:nvPr/>
        </p:nvSpPr>
        <p:spPr>
          <a:xfrm>
            <a:off x="4215383" y="1691640"/>
            <a:ext cx="2221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Survey of collaborative, content-based and hybrid recommendation techniques.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1618488"/>
            <a:ext cx="242316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0" name="TextBox 69"/>
          <p:cNvSpPr txBox="1"/>
          <p:nvPr/>
        </p:nvSpPr>
        <p:spPr>
          <a:xfrm>
            <a:off x="6547103" y="1691640"/>
            <a:ext cx="2313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Combining multiple recommendation strategies can improve personalization and robustness.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15400" y="1618488"/>
            <a:ext cx="242316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2" name="TextBox 71"/>
          <p:cNvSpPr txBox="1"/>
          <p:nvPr/>
        </p:nvSpPr>
        <p:spPr>
          <a:xfrm>
            <a:off x="8970264" y="1691640"/>
            <a:ext cx="2313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Hybrid models need careful design; future systems should handle richer context and user needs.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2734056"/>
            <a:ext cx="132588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4" name="TextBox 73"/>
          <p:cNvSpPr txBox="1"/>
          <p:nvPr/>
        </p:nvSpPr>
        <p:spPr>
          <a:xfrm>
            <a:off x="557784" y="2807208"/>
            <a:ext cx="1216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3648"/>
                </a:solidFill>
                <a:latin typeface="Aptos"/>
              </a:rPr>
              <a:t>Burke
(2002)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0" y="2734056"/>
            <a:ext cx="23317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6" name="TextBox 75"/>
          <p:cNvSpPr txBox="1"/>
          <p:nvPr/>
        </p:nvSpPr>
        <p:spPr>
          <a:xfrm>
            <a:off x="1883664" y="2807208"/>
            <a:ext cx="2221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Hybrid Recommender Systems: Survey and Experiments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60520" y="2734056"/>
            <a:ext cx="23317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8" name="TextBox 77"/>
          <p:cNvSpPr txBox="1"/>
          <p:nvPr/>
        </p:nvSpPr>
        <p:spPr>
          <a:xfrm>
            <a:off x="4215383" y="2807208"/>
            <a:ext cx="2221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Combines recommendation techniques through weighted, switching and mixed strategies.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92240" y="2734056"/>
            <a:ext cx="242316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0" name="TextBox 79"/>
          <p:cNvSpPr txBox="1"/>
          <p:nvPr/>
        </p:nvSpPr>
        <p:spPr>
          <a:xfrm>
            <a:off x="6547103" y="2807208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Hybridization can reduce weaknesses of individual recommendation approaches.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15400" y="2734056"/>
            <a:ext cx="242316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2" name="TextBox 81"/>
          <p:cNvSpPr txBox="1"/>
          <p:nvPr/>
        </p:nvSpPr>
        <p:spPr>
          <a:xfrm>
            <a:off x="8970264" y="2807208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Model complexity and weighting can increase; evaluation is important.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" y="3849624"/>
            <a:ext cx="132588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4" name="TextBox 83"/>
          <p:cNvSpPr txBox="1"/>
          <p:nvPr/>
        </p:nvSpPr>
        <p:spPr>
          <a:xfrm>
            <a:off x="557784" y="3922776"/>
            <a:ext cx="1216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3648"/>
                </a:solidFill>
                <a:latin typeface="Aptos"/>
              </a:rPr>
              <a:t>Zhang &amp; Chen
(2020)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0" y="3849624"/>
            <a:ext cx="233172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6" name="TextBox 85"/>
          <p:cNvSpPr txBox="1"/>
          <p:nvPr/>
        </p:nvSpPr>
        <p:spPr>
          <a:xfrm>
            <a:off x="1883664" y="3922776"/>
            <a:ext cx="2221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Explainable Recommendation: A Survey and New Perspectives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60520" y="3849624"/>
            <a:ext cx="233172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8" name="TextBox 87"/>
          <p:cNvSpPr txBox="1"/>
          <p:nvPr/>
        </p:nvSpPr>
        <p:spPr>
          <a:xfrm>
            <a:off x="4215383" y="3922776"/>
            <a:ext cx="2221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Reviews explainable recommendation using user, item and interaction information.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3849624"/>
            <a:ext cx="242316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" name="TextBox 89"/>
          <p:cNvSpPr txBox="1"/>
          <p:nvPr/>
        </p:nvSpPr>
        <p:spPr>
          <a:xfrm>
            <a:off x="6547103" y="3922776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Explanations can improve transparency and help users understand recommendations.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15400" y="3849624"/>
            <a:ext cx="242316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2" name="TextBox 91"/>
          <p:cNvSpPr txBox="1"/>
          <p:nvPr/>
        </p:nvSpPr>
        <p:spPr>
          <a:xfrm>
            <a:off x="8970264" y="3922776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Explanations should remain faithful, useful and easy for users to interpret.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4965192"/>
            <a:ext cx="132588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4" name="TextBox 93"/>
          <p:cNvSpPr txBox="1"/>
          <p:nvPr/>
        </p:nvSpPr>
        <p:spPr>
          <a:xfrm>
            <a:off x="557784" y="5038344"/>
            <a:ext cx="1216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3648"/>
                </a:solidFill>
                <a:latin typeface="Aptos"/>
              </a:rPr>
              <a:t>CineMatch AI
(2026)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28800" y="4965192"/>
            <a:ext cx="23317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6" name="TextBox 95"/>
          <p:cNvSpPr txBox="1"/>
          <p:nvPr/>
        </p:nvSpPr>
        <p:spPr>
          <a:xfrm>
            <a:off x="1883664" y="5038344"/>
            <a:ext cx="22219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Personalized Movie Discovery with Mood + Taste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60520" y="4965192"/>
            <a:ext cx="23317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8" name="TextBox 97"/>
          <p:cNvSpPr txBox="1"/>
          <p:nvPr/>
        </p:nvSpPr>
        <p:spPr>
          <a:xfrm>
            <a:off x="4215383" y="5038344"/>
            <a:ext cx="2221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Proposed hybrid pipeline using content features, user interactions, mood and explainable match signals.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92240" y="4965192"/>
            <a:ext cx="242316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0" name="TextBox 99"/>
          <p:cNvSpPr txBox="1"/>
          <p:nvPr/>
        </p:nvSpPr>
        <p:spPr>
          <a:xfrm>
            <a:off x="6547103" y="5038344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Targets relevance, diversity, user trust and a unified movie-discovery experience.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400" y="4965192"/>
            <a:ext cx="242316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2" name="TextBox 101"/>
          <p:cNvSpPr txBox="1"/>
          <p:nvPr/>
        </p:nvSpPr>
        <p:spPr>
          <a:xfrm>
            <a:off x="8970264" y="5038344"/>
            <a:ext cx="2313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3648"/>
                </a:solidFill>
                <a:latin typeface="Aptos"/>
              </a:rPr>
              <a:t>Future work: larger datasets, ML evaluation, PostgreSQL deployment and cold-start handling.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70560" y="6281928"/>
            <a:ext cx="10652760" cy="438912"/>
          </a:xfrm>
          <a:prstGeom prst="roundRect">
            <a:avLst/>
          </a:prstGeom>
          <a:solidFill>
            <a:srgbClr val="F1EFFA"/>
          </a:solidFill>
          <a:ln>
            <a:solidFill>
              <a:srgbClr val="CD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4" name="TextBox 103"/>
          <p:cNvSpPr txBox="1"/>
          <p:nvPr/>
        </p:nvSpPr>
        <p:spPr>
          <a:xfrm>
            <a:off x="640080" y="6292179"/>
            <a:ext cx="1028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5848A0"/>
                </a:solidFill>
                <a:latin typeface="Aptos"/>
              </a:rPr>
              <a:t>Research takeaway: </a:t>
            </a:r>
            <a:r>
              <a:rPr sz="1200" b="1" dirty="0" err="1">
                <a:solidFill>
                  <a:srgbClr val="5848A0"/>
                </a:solidFill>
                <a:latin typeface="Aptos"/>
              </a:rPr>
              <a:t>CineMatch</a:t>
            </a:r>
            <a:r>
              <a:rPr sz="1200" b="1" dirty="0">
                <a:solidFill>
                  <a:srgbClr val="5848A0"/>
                </a:solidFill>
                <a:latin typeface="Aptos"/>
              </a:rPr>
              <a:t> AI combines established recommendation methods with mood-aware personalization and explainable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Problem Gap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25603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5B51"/>
                </a:solidFill>
                <a:latin typeface="Aptos"/>
              </a:rPr>
              <a:t>Existing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75488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Often emphasize popularity or basic genre similarity.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Limited personalization for new or changing user preferences.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Recommendations can be difficult to interpret.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Movie discovery and trailer exploration are often disconnected.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14300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A074"/>
                </a:solidFill>
                <a:latin typeface="Aptos"/>
              </a:rPr>
              <a:t>CineMatch AI gap addressed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572768"/>
            <a:ext cx="48006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Personal user profiles and secure authentication.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Hybrid recommendation strategy for relevance and diversity.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Mood-aware discovery as an additional preference signal.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Explainable AI Match score and recommendation reasons.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/>
              <a:t>• Integrated search, watchlist, movie details and trailers.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51960"/>
            <a:ext cx="9692640" cy="105156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1097280" y="4251960"/>
            <a:ext cx="64008" cy="105156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1261872" y="4361688"/>
            <a:ext cx="94183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Research Gap → Project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727448"/>
            <a:ext cx="94183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97D"/>
                </a:solidFill>
                <a:latin typeface="Aptos"/>
              </a:rPr>
              <a:t>Move from generic movie lists to a personalized, explainable and user-centered discovery experience.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Innovation, Creativity, and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669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434"/>
                </a:solidFill>
                <a:latin typeface="Aptos"/>
              </a:rPr>
              <a:t>What makes CineMatch AI different?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11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5B5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2103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D4CAA"/>
                </a:solidFill>
                <a:latin typeface="Aptos"/>
              </a:rPr>
              <a:t>Mood + Taste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81912"/>
            <a:ext cx="7315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41"/>
                </a:solidFill>
                <a:latin typeface="Aptos"/>
              </a:rPr>
              <a:t>Recommendations consider both long-term preferences and the user's current mood.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11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5B51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21031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D4CAA"/>
                </a:solidFill>
                <a:latin typeface="Aptos"/>
              </a:rPr>
              <a:t>Explainable AI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42032"/>
            <a:ext cx="7315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41"/>
                </a:solidFill>
                <a:latin typeface="Aptos"/>
              </a:rPr>
              <a:t>Each result can communicate why it is a strong match instead of showing only a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11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5B51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20440"/>
            <a:ext cx="21031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D4CAA"/>
                </a:solidFill>
                <a:latin typeface="Aptos"/>
              </a:rPr>
              <a:t>One Discovery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502152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41"/>
                </a:solidFill>
                <a:latin typeface="Aptos"/>
              </a:rPr>
              <a:t>Search, recommendations, watchlist, movie details and trailers are connected.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411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5B51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2103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D4CAA"/>
                </a:solidFill>
                <a:latin typeface="Aptos"/>
              </a:rPr>
              <a:t>Personalized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522037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2D41"/>
                </a:solidFill>
                <a:latin typeface="Aptos"/>
              </a:rPr>
              <a:t>User interactions can continuously improve their preference profile.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9697D"/>
                </a:solidFill>
                <a:latin typeface="Aptos"/>
              </a:rPr>
              <a:t>Recommendation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64592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777240" y="5788152"/>
            <a:ext cx="1554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D4CAA"/>
                </a:solidFill>
                <a:latin typeface="Aptos"/>
              </a:rPr>
              <a:t>User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4016" y="5742432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D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669280"/>
            <a:ext cx="164592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2788920" y="5687794"/>
            <a:ext cx="1554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D4CAA"/>
                </a:solidFill>
                <a:latin typeface="Aptos"/>
              </a:rPr>
              <a:t>Content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5742432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5669280"/>
            <a:ext cx="164592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4800600" y="5669280"/>
            <a:ext cx="1554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D4CAA"/>
                </a:solidFill>
                <a:latin typeface="Aptos"/>
              </a:rPr>
              <a:t>Hybrid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5742432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D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5669280"/>
            <a:ext cx="164592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6812280" y="5788152"/>
            <a:ext cx="1554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D4CAA"/>
                </a:solidFill>
                <a:latin typeface="Aptos"/>
              </a:rPr>
              <a:t>AI Explanation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5742432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5669280"/>
            <a:ext cx="205740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8823960" y="5788152"/>
            <a:ext cx="2011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D4CAA"/>
                </a:solidFill>
                <a:latin typeface="Aptos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Feasibility and Project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2468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5D4CAA"/>
                </a:solidFill>
                <a:latin typeface="Aptos"/>
              </a:rPr>
              <a:t>Technology </a:t>
            </a:r>
            <a:r>
              <a:rPr sz="1400" b="1" dirty="0">
                <a:solidFill>
                  <a:srgbClr val="5D4CAA"/>
                </a:solidFill>
                <a:latin typeface="Aptos"/>
              </a:rP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4937760" cy="2351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Frontend: React.js, JavaScript, CSS, Vite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Backend: Python, </a:t>
            </a:r>
            <a:r>
              <a:rPr sz="1400" dirty="0" err="1"/>
              <a:t>FastAPI</a:t>
            </a:r>
            <a:r>
              <a:rPr sz="1400" dirty="0"/>
              <a:t>, REST APIs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Database: SQLite for prototype; </a:t>
            </a:r>
            <a:r>
              <a:rPr lang="en-US" sz="1400" dirty="0"/>
              <a:t>My</a:t>
            </a:r>
            <a:r>
              <a:rPr sz="1400" dirty="0"/>
              <a:t>SQL planned for production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Security: PBKDF2-HMAC-SHA256 password hashing + session tokens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Trailer integration: YouTube embedded trailers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Recommendation layer: content-based + collaborative/hybrid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051560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7A074"/>
                </a:solidFill>
                <a:latin typeface="Aptos"/>
              </a:rPr>
              <a:t>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417320"/>
            <a:ext cx="480060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200" dirty="0"/>
              <a:t>• Technically feasible with open-source tools and public movie metadata.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200" dirty="0"/>
              <a:t>• Modular architecture allows the </a:t>
            </a:r>
            <a:r>
              <a:rPr sz="1400" dirty="0"/>
              <a:t>recommender</a:t>
            </a:r>
            <a:r>
              <a:rPr sz="1200" dirty="0"/>
              <a:t> to improve independently.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200" dirty="0"/>
              <a:t>• Prototype can run locally and later be deployed to cloud services.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200" dirty="0"/>
              <a:t>• Main risks: data quality, cold-start users and recommendation evaluation.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2468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5D4CAA"/>
                </a:solidFill>
                <a:latin typeface="Aptos"/>
              </a:rPr>
              <a:t>Project</a:t>
            </a:r>
            <a:r>
              <a:rPr sz="1200" b="1" dirty="0">
                <a:solidFill>
                  <a:srgbClr val="5D4CAA"/>
                </a:solidFill>
                <a:latin typeface="Aptos"/>
              </a:rPr>
              <a:t>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61434"/>
                </a:solidFill>
                <a:latin typeface="Aptos"/>
              </a:rPr>
              <a:t>1. Research &amp;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697D"/>
                </a:solidFill>
                <a:latin typeface="Aptos"/>
              </a:rPr>
              <a:t>Weeks 1–2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919472"/>
            <a:ext cx="1691640" cy="438912"/>
          </a:xfrm>
          <a:prstGeom prst="round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2743200" y="425196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61434"/>
                </a:solidFill>
                <a:latin typeface="Aptos"/>
              </a:rPr>
              <a:t>2. UI &amp;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697D"/>
                </a:solidFill>
                <a:latin typeface="Aptos"/>
              </a:rPr>
              <a:t>Weeks 3–4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919472"/>
            <a:ext cx="1691640" cy="438912"/>
          </a:xfrm>
          <a:prstGeom prst="round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4800600" y="4251960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61434"/>
                </a:solidFill>
                <a:latin typeface="Aptos"/>
              </a:rPr>
              <a:t>3. Recommendation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697D"/>
                </a:solidFill>
                <a:latin typeface="Aptos"/>
              </a:rPr>
              <a:t>Weeks 5–7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919472"/>
            <a:ext cx="1691640" cy="438912"/>
          </a:xfrm>
          <a:prstGeom prst="roundRect">
            <a:avLst/>
          </a:prstGeom>
          <a:solidFill>
            <a:srgbClr val="47A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6858000" y="425196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61434"/>
                </a:solidFill>
                <a:latin typeface="Aptos"/>
              </a:rPr>
              <a:t>4. Testing &amp;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697D"/>
                </a:solidFill>
                <a:latin typeface="Aptos"/>
              </a:rPr>
              <a:t>Weeks 8–9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919472"/>
            <a:ext cx="1691640" cy="438912"/>
          </a:xfrm>
          <a:prstGeom prst="roundRect">
            <a:avLst/>
          </a:prstGeom>
          <a:solidFill>
            <a:srgbClr val="9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8915400" y="425196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61434"/>
                </a:solidFill>
                <a:latin typeface="Aptos"/>
              </a:rPr>
              <a:t>5. Deployment &amp;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697D"/>
                </a:solidFill>
                <a:latin typeface="Aptos"/>
              </a:rPr>
              <a:t>Weeks 10–11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919472"/>
            <a:ext cx="1691640" cy="438912"/>
          </a:xfrm>
          <a:prstGeom prst="roundRect">
            <a:avLst/>
          </a:prstGeom>
          <a:solidFill>
            <a:srgbClr val="16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Rounded Rectangle 26"/>
          <p:cNvSpPr/>
          <p:nvPr/>
        </p:nvSpPr>
        <p:spPr>
          <a:xfrm>
            <a:off x="717804" y="5634390"/>
            <a:ext cx="10058400" cy="59436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738379" y="5632704"/>
            <a:ext cx="45719" cy="59436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850392" y="5687568"/>
            <a:ext cx="9784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61434"/>
                </a:solidFill>
                <a:latin typeface="Aptos"/>
              </a:rPr>
              <a:t>Expected Review-1 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5993892"/>
            <a:ext cx="9784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9697D"/>
                </a:solidFill>
                <a:latin typeface="Aptos"/>
              </a:rPr>
              <a:t>Working UI prototype + authentication backend + recommendation architecture + defined implementation plan.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874</Words>
  <Application>Microsoft Office PowerPoint</Application>
  <PresentationFormat>Widescreen</PresentationFormat>
  <Paragraphs>155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akshitha korumilli</cp:lastModifiedBy>
  <cp:revision>40</cp:revision>
  <dcterms:created xsi:type="dcterms:W3CDTF">2026-08-08T06:33:56Z</dcterms:created>
  <dcterms:modified xsi:type="dcterms:W3CDTF">2026-09-11T03:43:01Z</dcterms:modified>
</cp:coreProperties>
</file>